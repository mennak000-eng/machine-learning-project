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</p:sldIdLst>
  <p:sldSz cx="9144000" cy="6858000" type="screen4x3"/>
  <p:notesSz cx="6858000" cy="9144000"/>
  <p:embeddedFontLst>
    <p:embeddedFont>
      <p:font typeface="Manrope ExtraBold" charset="0"/>
      <p:bold r:id="rId20"/>
    </p:embeddedFont>
    <p:embeddedFont>
      <p:font typeface="Lato" panose="020F0502020204030203" charset="0"/>
      <p:regular r:id="rId21"/>
    </p:embeddedFont>
    <p:embeddedFont>
      <p:font typeface="Calibri" panose="020F0502020204030204" charset="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8650" y="1252855"/>
            <a:ext cx="78867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39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78656" y="180975"/>
            <a:ext cx="78867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668655" y="4946650"/>
            <a:ext cx="4332446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35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65796" y="4299150"/>
            <a:ext cx="3895226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28649" y="4335150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3518059" cy="2914015"/>
          </a:xfrm>
        </p:spPr>
        <p:txBody>
          <a:bodyPr wrap="square" anchor="b">
            <a:normAutofit/>
          </a:bodyPr>
          <a:lstStyle>
            <a:lvl1pPr algn="ctr">
              <a:defRPr sz="43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8133012" y="394665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488751" y="3981423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732847" y="58074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988" y="4445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22000" y="3274695"/>
            <a:ext cx="8100000" cy="2646680"/>
          </a:xfrm>
        </p:spPr>
        <p:txBody>
          <a:bodyPr wrap="square" anchor="t" anchorCtr="0">
            <a:normAutofit/>
          </a:bodyPr>
          <a:lstStyle>
            <a:lvl1pPr algn="ctr">
              <a:defRPr sz="45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143000" y="307340"/>
            <a:ext cx="6858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37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360045"/>
            <a:ext cx="8100536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360045"/>
            <a:ext cx="8099108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9126" y="212725"/>
            <a:ext cx="7886224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669131" y="5288280"/>
            <a:ext cx="54864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35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082993" y="3674110"/>
            <a:ext cx="7432834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5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29125" y="3603245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image" Target="../media/image2.png"/><Relationship Id="rId13" Type="http://schemas.openxmlformats.org/officeDocument/2006/relationships/tags" Target="../tags/tag73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197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565487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3" Type="http://schemas.openxmlformats.org/officeDocument/2006/relationships/image" Target="../media/image3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9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0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6.xml"/><Relationship Id="rId3" Type="http://schemas.openxmlformats.org/officeDocument/2006/relationships/image" Target="../media/image13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9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90575" y="1811496"/>
            <a:ext cx="7886700" cy="2176939"/>
          </a:xfrm>
        </p:spPr>
        <p:txBody>
          <a:bodyPr anchor="ctr" anchorCtr="0"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200">
                <a:latin typeface="Times New Roman" panose="02020603050405020304" charset="0"/>
                <a:cs typeface="Times New Roman" panose="02020603050405020304" charset="0"/>
              </a:rPr>
              <a:t>Protein Structure Prediction Using Machine Learning</a:t>
            </a:r>
            <a:endParaRPr lang="en-US" sz="5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59510" y="4604068"/>
            <a:ext cx="4332446" cy="933450"/>
          </a:xfrm>
        </p:spPr>
        <p:txBody>
          <a:bodyPr>
            <a:noAutofit/>
          </a:bodyPr>
          <a:lstStyle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By: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Menna khaled 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221000165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Objective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 descr="7b0a202020202262756c6c6574223a20227b5c2263617465676f727949645c223a5c225c222c5c2274656d706c61746549645c223a32303233313638327d220a7d0a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301749"/>
            <a:ext cx="8100000" cy="4873625"/>
          </a:xfrm>
        </p:spPr>
        <p:txBody>
          <a:bodyPr/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the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Average B Factor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Compar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between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ML Models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Select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the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Best Model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out of the 3 used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Deploy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at the end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ing Streamlit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 Description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RCSB PDB Dataset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was used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>
              <a:solidFill>
                <a:schemeClr val="tx1"/>
              </a:solidFill>
            </a:endParaRPr>
          </a:p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1981835"/>
            <a:ext cx="3237865" cy="19526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16585" y="4143375"/>
            <a:ext cx="42475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lt"/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 chosen target was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Average B Factor</a:t>
            </a:r>
            <a:endParaRPr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>
              <a:buFont typeface="+mj-lt"/>
              <a:buNone/>
            </a:pP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+mj-lt"/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Protein structural features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  <a:p>
            <a:endParaRPr 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345395"/>
            <a:ext cx="8100000" cy="720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Font typeface="+mj-lt"/>
              <a:buAutoNum type="arabicPeriod"/>
            </a:pPr>
            <a:r>
              <a:rPr lang="en-US" sz="2800">
                <a:sym typeface="+mn-ea"/>
              </a:rPr>
              <a:t>first h</a:t>
            </a:r>
            <a:r>
              <a:rPr sz="2800">
                <a:sym typeface="+mn-ea"/>
              </a:rPr>
              <a:t>andl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Missing Values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sym typeface="+mn-ea"/>
              </a:rPr>
              <a:t> Remov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Unnecessary Columns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sz="2800">
                <a:sym typeface="+mn-ea"/>
              </a:rPr>
              <a:t> Convert</a:t>
            </a:r>
            <a:r>
              <a:rPr lang="en-US" sz="2800">
                <a:sym typeface="+mn-ea"/>
              </a:rPr>
              <a:t>ing</a:t>
            </a:r>
            <a:r>
              <a:rPr sz="2800">
                <a:sym typeface="+mn-ea"/>
              </a:rPr>
              <a:t> Data Types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800">
                <a:sym typeface="+mn-ea"/>
              </a:rPr>
              <a:t>Then </a:t>
            </a:r>
            <a:r>
              <a:rPr sz="2800">
                <a:sym typeface="+mn-ea"/>
              </a:rPr>
              <a:t>Data Cleaning</a:t>
            </a:r>
            <a:endParaRPr sz="280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3850" y="382905"/>
            <a:ext cx="7860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Times New Roman" panose="02020603050405020304" charset="0"/>
                <a:cs typeface="Times New Roman" panose="02020603050405020304" charset="0"/>
              </a:rPr>
              <a:t>Feature Engineering: Structure Complexity</a:t>
            </a:r>
            <a:endParaRPr lang="en-US" altLang="en-US" sz="32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0980" y="1443990"/>
            <a:ext cx="999807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new feature was created to improve model performance</a:t>
            </a: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ombines secondary structure elements: Helix + Sheet + Coil</a:t>
            </a: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Structure Complexity = Helix + Sheet + Coil</a:t>
            </a: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Represents the overall structural complexity of proteins</a:t>
            </a:r>
            <a:endParaRPr lang="en-US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  <a:p>
            <a:endParaRPr lang="ar-EG" altLang="ar-SA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Exploratory Data Analysis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Correlation Heatmap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ar-EG" altLang="en-US" sz="28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. Histogram of Average B Factor</a:t>
            </a:r>
            <a:r>
              <a:rPr lang="ar-EG" altLang="en-US" sz="28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 descr="Screenshot 2026-06-03 2107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1809750"/>
            <a:ext cx="4067175" cy="1905000"/>
          </a:xfrm>
          <a:prstGeom prst="rect">
            <a:avLst/>
          </a:prstGeom>
        </p:spPr>
      </p:pic>
      <p:pic>
        <p:nvPicPr>
          <p:cNvPr id="13" name="Picture 12" descr="Screenshot 2026-06-03 211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" y="4443730"/>
            <a:ext cx="5052060" cy="241427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4805045" y="989330"/>
            <a:ext cx="4194810" cy="1383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Scatter Plot (Molecular Weight vs Average B Factor)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 descr="Screenshot 2026-06-03 2112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515" y="2372995"/>
            <a:ext cx="3598545" cy="30079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Selection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Content Placeholder 8"/>
          <p:cNvSpPr/>
          <p:nvPr>
            <p:ph idx="1"/>
            <p:custDataLst>
              <p:tags r:id="rId3"/>
            </p:custDataLst>
          </p:nvPr>
        </p:nvSpPr>
        <p:spPr/>
        <p:txBody>
          <a:bodyPr>
            <a:normAutofit fontScale="45000"/>
          </a:bodyPr>
          <a:p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The model was trained using 13 structural features along with the engineered feature Structure Complexity.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Selected Features</a:t>
            </a:r>
            <a:r>
              <a:rPr lang="ar-EG" altLang="en-US" sz="5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ar-EG" sz="5600">
                <a:latin typeface="Times New Roman" panose="02020603050405020304" charset="0"/>
                <a:cs typeface="Times New Roman" panose="02020603050405020304" charset="0"/>
              </a:rPr>
              <a:t> examples: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1) Matthews Coefficient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2) Molecular Weight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3) Sequence Length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+ Structure Complexity</a:t>
            </a:r>
            <a:r>
              <a:rPr lang="ar-EG" altLang="en-US"/>
              <a:t>: </a:t>
            </a:r>
            <a:endParaRPr lang="ar-EG" altLang="en-US"/>
          </a:p>
          <a:p>
            <a:endParaRPr lang="ar-EG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Models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6870" y="1473835"/>
            <a:ext cx="645985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 used 3 machine learning models: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1.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Regression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Tree Regressor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2386330"/>
            <a:ext cx="3524250" cy="12668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4192270"/>
            <a:ext cx="3209925" cy="10382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4572000" y="2163445"/>
            <a:ext cx="5441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Random Forest Regressor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435" y="2784475"/>
            <a:ext cx="3695700" cy="1571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Results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results than showed:</a:t>
            </a:r>
            <a:endParaRPr lang="en-US"/>
          </a:p>
          <a:p>
            <a:r>
              <a:rPr>
                <a:sym typeface="+mn-ea"/>
              </a:rPr>
              <a:t>Linear Regression R² = 0.388</a:t>
            </a:r>
            <a:endParaRPr>
              <a:solidFill>
                <a:schemeClr val="tx1"/>
              </a:solidFill>
            </a:endParaRPr>
          </a:p>
          <a:p>
            <a:r>
              <a:rPr>
                <a:sym typeface="+mn-ea"/>
              </a:rPr>
              <a:t>Decision Tree R² = 0.213</a:t>
            </a:r>
            <a:endParaRPr>
              <a:solidFill>
                <a:schemeClr val="tx1"/>
              </a:solidFill>
            </a:endParaRPr>
          </a:p>
          <a:p>
            <a:r>
              <a:rPr>
                <a:sym typeface="+mn-ea"/>
              </a:rPr>
              <a:t>Random Forest R² = 0.584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And that means that Random forest </a:t>
            </a:r>
            <a:r>
              <a:rPr lang="en-US" altLang="en-US">
                <a:sym typeface="+mn-ea"/>
              </a:rPr>
              <a:t>got the highest predictive performance between the three models.</a:t>
            </a:r>
            <a:endParaRPr lang="en-US" altLang="en-US">
              <a:sym typeface="+mn-ea"/>
            </a:endParaRPr>
          </a:p>
          <a:p>
            <a:endParaRPr>
              <a:solidFill>
                <a:schemeClr val="tx1"/>
              </a:solidFill>
              <a:sym typeface="+mn-ea"/>
            </a:endParaRPr>
          </a:p>
          <a:p>
            <a:endParaRPr>
              <a:solidFill>
                <a:schemeClr val="tx1"/>
              </a:solidFill>
            </a:endParaRPr>
          </a:p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943350"/>
            <a:ext cx="3743960" cy="134493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950" y="3943350"/>
            <a:ext cx="3747770" cy="13449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00" y="5451475"/>
            <a:ext cx="3369310" cy="140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Hyperparameter Tuning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Best Parameters: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max_depth = 10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n_estimators = 50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611880"/>
            <a:ext cx="6149340" cy="17970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Deployment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Content Placeholder 8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last step which is deployment by </a:t>
            </a:r>
            <a:r>
              <a:rPr lang="en-US" altLang="en-US"/>
              <a:t>Streamlit.</a:t>
            </a:r>
            <a:endParaRPr lang="en-US" altLang="en-US"/>
          </a:p>
        </p:txBody>
      </p:sp>
      <p:pic>
        <p:nvPicPr>
          <p:cNvPr id="10" name="Picture 9" descr="Screenshot 2026-06-03 193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" y="1736725"/>
            <a:ext cx="4347845" cy="2779395"/>
          </a:xfrm>
          <a:prstGeom prst="rect">
            <a:avLst/>
          </a:prstGeom>
        </p:spPr>
      </p:pic>
      <p:pic>
        <p:nvPicPr>
          <p:cNvPr id="12" name="Picture 11" descr="Screenshot 2026-06-03 193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020" y="3725545"/>
            <a:ext cx="4398010" cy="27597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 conclusion, this project used machine learning to predict protein B-factor values. Random Forest achieved the best performance (R² = 0.584) and was selected as the final model. A Streamlit app was developed to enable real-time prediction, showing the practical use of ML in bioinformatics.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64385" y="2392045"/>
            <a:ext cx="5294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r>
              <a:rPr lang="en-US" sz="7200" b="1">
                <a:solidFill>
                  <a:schemeClr val="tx1"/>
                </a:solidFill>
              </a:rPr>
              <a:t>.</a:t>
            </a:r>
            <a:endParaRPr lang="en-US" sz="7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81.xml><?xml version="1.0" encoding="utf-8"?>
<p:tagLst xmlns:p="http://schemas.openxmlformats.org/presentationml/2006/main">
  <p:tag name="KSO_WM_UNIT_SUBTYPE" val="g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7990_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LOGO"/>
</p:tagLst>
</file>

<file path=ppt/tags/tag8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Project 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TEXT" val="Dataset Descrip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TEXT" val="Feature Engineer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Exploratory Data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TEXT" val="Feature Sele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Machine Learning Model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TEXT" val="Model Resul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ags/tag107.xml><?xml version="1.0" encoding="utf-8"?>
<p:tagLst xmlns:p="http://schemas.openxmlformats.org/presentationml/2006/main">
  <p:tag name="KSO_WM_UNIT_TEXT" val="Hyperparameter Tu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SLIDE_TYPE" val="text"/>
  <p:tag name="KSO_WM_BEAUTIFY_FLAG" val="#wm#"/>
</p:tagLst>
</file>

<file path=ppt/tags/tag110.xml><?xml version="1.0" encoding="utf-8"?>
<p:tagLst xmlns:p="http://schemas.openxmlformats.org/presentationml/2006/main">
  <p:tag name="KSO_WM_UNIT_TEXT" val="Deploy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WPS Presentation</Application>
  <PresentationFormat>On-screen Show (4:3)</PresentationFormat>
  <Paragraphs>110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Manrope ExtraBold</vt:lpstr>
      <vt:lpstr>Lato</vt:lpstr>
      <vt:lpstr>Calibri</vt:lpstr>
      <vt:lpstr>Office Theme</vt:lpstr>
      <vt:lpstr>1_Office Theme</vt:lpstr>
      <vt:lpstr>Protein Structure Prediction Using Machine Learning</vt:lpstr>
      <vt:lpstr>Project Objective</vt:lpstr>
      <vt:lpstr>Dataset Description</vt:lpstr>
      <vt:lpstr>Data Preprocessing </vt:lpstr>
      <vt:lpstr>PowerPoint 演示文稿</vt:lpstr>
      <vt:lpstr>Exploratory Data Analysis</vt:lpstr>
      <vt:lpstr>Feature Selection</vt:lpstr>
      <vt:lpstr>Machine Learning Models</vt:lpstr>
      <vt:lpstr>Model Results</vt:lpstr>
      <vt:lpstr>Hyperparameter Tuning</vt:lpstr>
      <vt:lpstr>Deployment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Khaled</cp:lastModifiedBy>
  <cp:revision>3</cp:revision>
  <dcterms:created xsi:type="dcterms:W3CDTF">2013-01-27T09:14:00Z</dcterms:created>
  <dcterms:modified xsi:type="dcterms:W3CDTF">2026-06-03T20:11:40Z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1BDFF3ECAC4A4AD58E74AD02BA856D32_13</vt:lpwstr>
  </property>
</Properties>
</file>